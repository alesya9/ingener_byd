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14.png" ContentType="image/png"/>
  <Override PartName="/ppt/media/image5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51520" y="703440"/>
            <a:ext cx="96019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451520" y="201564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6EA24A-5D3D-4FB2-A560-C258AA9E59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451520" y="703440"/>
            <a:ext cx="96019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42D6162-0B4B-42B3-A7EC-D92DEBADE9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451520" y="703440"/>
            <a:ext cx="96019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1451520" y="201564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AAF1979-8AF6-4491-987F-E2847F8EEE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ac6c1"/>
            </a:gs>
            <a:gs pos="100000">
              <a:srgbClr val="eceae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/>
          <p:cNvSpPr/>
          <p:nvPr/>
        </p:nvSpPr>
        <p:spPr>
          <a:xfrm>
            <a:off x="0" y="2019600"/>
            <a:ext cx="12190680" cy="410436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0680" cy="741600"/>
          </a:xfrm>
          <a:prstGeom prst="rect">
            <a:avLst/>
          </a:prstGeom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0" y="6128280"/>
            <a:ext cx="12193200" cy="144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3" name="Straight Connector 14"/>
          <p:cNvCxnSpPr/>
          <p:nvPr/>
        </p:nvCxnSpPr>
        <p:spPr>
          <a:xfrm>
            <a:off x="2417760" y="3528360"/>
            <a:ext cx="8638200" cy="144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2416680" y="329400"/>
            <a:ext cx="497232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  <a:ea typeface="Arial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1437840" y="798840"/>
            <a:ext cx="80964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ru-RU" sz="2800" spc="-1" strike="noStrike">
                <a:solidFill>
                  <a:schemeClr val="accent1"/>
                </a:solidFill>
                <a:latin typeface="Gill Sans MT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4D2222-63B0-4E7A-A7A2-31CA4855E72D}" type="slidenum">
              <a:rPr b="0" lang="ru-RU" sz="2800" spc="-1" strike="noStrike">
                <a:solidFill>
                  <a:schemeClr val="accent1"/>
                </a:solidFill>
                <a:latin typeface="Gill Sans MT"/>
                <a:ea typeface="Arial"/>
              </a:rPr>
              <a:t>&lt;номер&gt;</a:t>
            </a:fld>
            <a:endParaRPr b="0" lang="ru-RU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7554240" y="330480"/>
            <a:ext cx="349920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ac6c1"/>
            </a:gs>
            <a:gs pos="100000">
              <a:srgbClr val="eceae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/>
        </p:nvSpPr>
        <p:spPr>
          <a:xfrm>
            <a:off x="0" y="2019600"/>
            <a:ext cx="12190680" cy="410436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2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0680" cy="741600"/>
          </a:xfrm>
          <a:prstGeom prst="rect">
            <a:avLst/>
          </a:prstGeom>
          <a:ln w="0">
            <a:noFill/>
          </a:ln>
        </p:spPr>
      </p:pic>
      <p:cxnSp>
        <p:nvCxnSpPr>
          <p:cNvPr id="13" name="Straight Connector 9"/>
          <p:cNvCxnSpPr/>
          <p:nvPr/>
        </p:nvCxnSpPr>
        <p:spPr>
          <a:xfrm>
            <a:off x="0" y="6128280"/>
            <a:ext cx="12193200" cy="144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14" name="Straight Connector 32"/>
          <p:cNvCxnSpPr/>
          <p:nvPr/>
        </p:nvCxnSpPr>
        <p:spPr>
          <a:xfrm>
            <a:off x="1453680" y="1846800"/>
            <a:ext cx="9609120" cy="144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4"/>
          </p:nvPr>
        </p:nvSpPr>
        <p:spPr>
          <a:xfrm>
            <a:off x="1451520" y="329400"/>
            <a:ext cx="593748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  <a:ea typeface="Arial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5"/>
          </p:nvPr>
        </p:nvSpPr>
        <p:spPr>
          <a:xfrm>
            <a:off x="480240" y="798840"/>
            <a:ext cx="80964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ru-RU" sz="2800" spc="-1" strike="noStrike">
                <a:solidFill>
                  <a:schemeClr val="accent1"/>
                </a:solidFill>
                <a:latin typeface="Gill Sans MT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E3DB70-6305-4361-8A3C-A424ACD385E3}" type="slidenum">
              <a:rPr b="0" lang="ru-RU" sz="2800" spc="-1" strike="noStrike">
                <a:solidFill>
                  <a:schemeClr val="accent1"/>
                </a:solidFill>
                <a:latin typeface="Gill Sans MT"/>
                <a:ea typeface="Arial"/>
              </a:rPr>
              <a:t>&lt;номер&gt;</a:t>
            </a:fld>
            <a:endParaRPr b="0" lang="ru-RU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6"/>
          </p:nvPr>
        </p:nvSpPr>
        <p:spPr>
          <a:xfrm>
            <a:off x="7554240" y="330480"/>
            <a:ext cx="349920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ac6c1"/>
            </a:gs>
            <a:gs pos="100000">
              <a:srgbClr val="eceae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/>
          <p:nvPr/>
        </p:nvSpPr>
        <p:spPr>
          <a:xfrm>
            <a:off x="0" y="2019600"/>
            <a:ext cx="12190680" cy="410436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23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0680" cy="741600"/>
          </a:xfrm>
          <a:prstGeom prst="rect">
            <a:avLst/>
          </a:prstGeom>
          <a:ln w="0">
            <a:noFill/>
          </a:ln>
        </p:spPr>
      </p:pic>
      <p:cxnSp>
        <p:nvCxnSpPr>
          <p:cNvPr id="24" name="Straight Connector 9"/>
          <p:cNvCxnSpPr/>
          <p:nvPr/>
        </p:nvCxnSpPr>
        <p:spPr>
          <a:xfrm>
            <a:off x="0" y="6128280"/>
            <a:ext cx="12193200" cy="144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cxnSp>
        <p:nvCxnSpPr>
          <p:cNvPr id="25" name="Straight Connector 32"/>
          <p:cNvCxnSpPr/>
          <p:nvPr/>
        </p:nvCxnSpPr>
        <p:spPr>
          <a:xfrm>
            <a:off x="1453680" y="1846800"/>
            <a:ext cx="9609120" cy="144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7"/>
          </p:nvPr>
        </p:nvSpPr>
        <p:spPr>
          <a:xfrm>
            <a:off x="1451520" y="329400"/>
            <a:ext cx="593748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  <a:ea typeface="Arial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480240" y="798840"/>
            <a:ext cx="809640" cy="5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ru-RU" sz="2800" spc="-1" strike="noStrike">
                <a:solidFill>
                  <a:schemeClr val="accent1"/>
                </a:solidFill>
                <a:latin typeface="Gill Sans MT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491BFBA-4A37-4210-B8B1-046EA83E0E5E}" type="slidenum">
              <a:rPr b="0" lang="ru-RU" sz="2800" spc="-1" strike="noStrike">
                <a:solidFill>
                  <a:schemeClr val="accent1"/>
                </a:solidFill>
                <a:latin typeface="Gill Sans MT"/>
                <a:ea typeface="Arial"/>
              </a:rPr>
              <a:t>&lt;номер&gt;</a:t>
            </a:fld>
            <a:endParaRPr b="0" lang="ru-RU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9"/>
          </p:nvPr>
        </p:nvSpPr>
        <p:spPr>
          <a:xfrm>
            <a:off x="7554240" y="330480"/>
            <a:ext cx="3499200" cy="3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417760" y="802440"/>
            <a:ext cx="8635680" cy="254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1600" spc="-1" strike="noStrike" cap="all">
                <a:solidFill>
                  <a:schemeClr val="dk1"/>
                </a:solidFill>
                <a:latin typeface="Times New Roman"/>
                <a:ea typeface="Arial"/>
              </a:rPr>
              <a:t>ПРОГРАММИРОВАНИЕ ДЛЯ ДОШКОЛЬНИКОВ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8971920" y="3769560"/>
            <a:ext cx="3119040" cy="22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222" lnSpcReduction="10000"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1400" spc="-1" strike="noStrike" cap="all">
                <a:solidFill>
                  <a:schemeClr val="dk1"/>
                </a:solidFill>
                <a:latin typeface="Times New Roman"/>
                <a:ea typeface="Arial"/>
              </a:rPr>
              <a:t>Участники: ученица 8 «И» класса ГБОУ школа №2098 Киселевич Алеся Евгеньевна, ученица 8 «И» класса ГБОУ школа №2098 Березницкая Елизавета Владимировна, ученица 8 «И» класса ГБОУ школа №2098 Кузнецова Валерия Денисовна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1400" spc="-1" strike="noStrike" cap="all">
                <a:solidFill>
                  <a:schemeClr val="dk1"/>
                </a:solidFill>
                <a:latin typeface="Times New Roman"/>
                <a:ea typeface="Arial"/>
              </a:rPr>
              <a:t>Руководители: педагог ГБОУ школы №2098 Янюшкин Никита Михайлович, педагог ГБОУ школы №2098 Буторова Елена Евгеньевна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Box 3"/>
          <p:cNvSpPr/>
          <p:nvPr/>
        </p:nvSpPr>
        <p:spPr>
          <a:xfrm>
            <a:off x="2927160" y="104400"/>
            <a:ext cx="6547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1400" spc="-1" strike="noStrike">
                <a:solidFill>
                  <a:schemeClr val="dk1"/>
                </a:solidFill>
                <a:latin typeface="Times New Roman"/>
                <a:ea typeface="Arial"/>
              </a:rPr>
              <a:t>Государственное бюджетное общеобразовательное учреждение города Москвы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ru-RU" sz="1400" spc="-1" strike="noStrike">
                <a:solidFill>
                  <a:schemeClr val="dk1"/>
                </a:solidFill>
                <a:latin typeface="Times New Roman"/>
                <a:ea typeface="Arial"/>
              </a:rPr>
              <a:t> </a:t>
            </a:r>
            <a:r>
              <a:rPr b="1" lang="ru-RU" sz="1400" spc="-1" strike="noStrike">
                <a:solidFill>
                  <a:schemeClr val="dk1"/>
                </a:solidFill>
                <a:latin typeface="Times New Roman"/>
                <a:ea typeface="Arial"/>
              </a:rPr>
              <a:t>школа №2098 имени Героя Советского Союза Л.М.Доватора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Box 4"/>
          <p:cNvSpPr/>
          <p:nvPr/>
        </p:nvSpPr>
        <p:spPr>
          <a:xfrm>
            <a:off x="4403520" y="5821200"/>
            <a:ext cx="3384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pc="-1" strike="noStrike">
                <a:solidFill>
                  <a:schemeClr val="dk1"/>
                </a:solidFill>
                <a:latin typeface="Gill Sans MT"/>
                <a:ea typeface="Arial"/>
              </a:rPr>
              <a:t>Город Москва, 2026 год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Актуальность работы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  <a:ea typeface="Arial"/>
              </a:rPr>
              <a:t>Актуальность программирования заключается в том, что программирование может с самого раннего возраста развивать логику, системное мышление, креативность, умение решать проблемы и готовит детей к цифровой эпохе. Так же раннее развитие алгоритмического мышления через игровые среды программирования не только готовит дошкольников к будущему в мире технологий, но и заинтересовывает ребенка изучать языки программирования дальше.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Обоснование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 </a:t>
            </a: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выбора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 </a:t>
            </a: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темы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1451520" y="201564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Мы убеждены,что данный наш проект принесет пользу младшему поколению в изучении языка программирования, а так же чтобы в дальнейшем у них был интерес в его подробном изучении. Наше мнение, что программирование — это не просто цель,а ключ к чему-то большему,чем знания.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Постановка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 </a:t>
            </a: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проблемы</a:t>
            </a:r>
            <a:r>
              <a:rPr b="0" lang="en-US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451520" y="201564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Несмотря на растущий спрос на развитие цифровых компетенций с дошкольного возраста, наблюдается острый дефицит доступных и выверенных ресурсов для обучения для ребят 5-7 лет.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Цели и задачи проекта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294560" y="1853280"/>
            <a:ext cx="9601920" cy="53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  <a:ea typeface="Arial"/>
              </a:rPr>
              <a:t>Цель: разработать сайт образовательного назначения для обучения детей дошкольного возраста программированию.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  <a:ea typeface="Arial"/>
              </a:rPr>
              <a:t>Задачи 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  <a:ea typeface="Arial"/>
              </a:rPr>
              <a:t>Создать главную страницу, где объясняется простым и доступным языком базовый материал программирования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  <a:ea typeface="Arial"/>
              </a:rPr>
              <a:t>Чтобы дети понимали, как пользоваться материалом, мы разработали страницу с примерами задач и их разбором, чтобы дети окончательно поняли тему.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  <a:ea typeface="Arial"/>
              </a:rPr>
              <a:t>Окончательная страница – страница с задачами для самостоятельного выполнения. Там дети могут порешать задачи, а в конце страницы написать свой код. Проверить результат они должны сами.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Gill Sans MT"/>
              <a:buAutoNum type="arabicPeriod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  <a:ea typeface="Arial"/>
              </a:rPr>
              <a:t>Также создана страница с аккаунтом. Можно зарегистрироваться администратором, родителем и учеником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Методика выполнения работы</a:t>
            </a:r>
            <a:r>
              <a:rPr b="0" lang="ru-RU" sz="4400" spc="-1" strike="noStrike">
                <a:solidFill>
                  <a:schemeClr val="dk1"/>
                </a:solidFill>
                <a:latin typeface="Times New Roman"/>
                <a:ea typeface="Arial"/>
              </a:rPr>
              <a:t> 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1080000" y="195012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Использование компьютера, 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PyCharm,VS code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Выполнение проекта осуществлялось в школе №2098 имени Доватора.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Сроки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: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 сентябрь-ноябрь – определение темы и начало заготовки проекта. Декабрь-январь основная деятельность и продвижение проекта.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Страницы: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717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proektsayt.html – 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главная страница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717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zadachi.html – 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страница с примерами задач и разбором этих задач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717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tren.html – 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страница с тренажёром и компилятором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717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account.html – 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страница аккаунта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717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register.html – 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страница регистрации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717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admin.html – 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страница панели администратора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717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login.html – 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Arial"/>
              </a:rPr>
              <a:t>страница входа в аккаунт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3935880" y="153432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Результат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  <a:ea typeface="Arial"/>
              </a:rPr>
              <a:t>Главная страница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Объект 4" descr=""/>
          <p:cNvPicPr/>
          <p:nvPr/>
        </p:nvPicPr>
        <p:blipFill>
          <a:blip r:embed="rId1"/>
          <a:stretch/>
        </p:blipFill>
        <p:spPr>
          <a:xfrm>
            <a:off x="263520" y="1989000"/>
            <a:ext cx="5544000" cy="2608920"/>
          </a:xfrm>
          <a:prstGeom prst="rect">
            <a:avLst/>
          </a:prstGeom>
          <a:ln w="0">
            <a:noFill/>
          </a:ln>
        </p:spPr>
      </p:pic>
      <p:pic>
        <p:nvPicPr>
          <p:cNvPr id="51" name="Рисунок 6" descr=""/>
          <p:cNvPicPr/>
          <p:nvPr/>
        </p:nvPicPr>
        <p:blipFill>
          <a:blip r:embed="rId2"/>
          <a:stretch/>
        </p:blipFill>
        <p:spPr>
          <a:xfrm>
            <a:off x="5879880" y="1989000"/>
            <a:ext cx="5832000" cy="271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Gill Sans MT"/>
                <a:ea typeface="Arial"/>
              </a:rPr>
              <a:t>Примеры задач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Объект 4" descr=""/>
          <p:cNvPicPr/>
          <p:nvPr/>
        </p:nvPicPr>
        <p:blipFill>
          <a:blip r:embed="rId1"/>
          <a:stretch/>
        </p:blipFill>
        <p:spPr>
          <a:xfrm>
            <a:off x="127800" y="1726200"/>
            <a:ext cx="6552000" cy="3085200"/>
          </a:xfrm>
          <a:prstGeom prst="rect">
            <a:avLst/>
          </a:prstGeom>
          <a:ln w="0">
            <a:noFill/>
          </a:ln>
        </p:spPr>
      </p:pic>
      <p:pic>
        <p:nvPicPr>
          <p:cNvPr id="54" name="Рисунок 6" descr=""/>
          <p:cNvPicPr/>
          <p:nvPr/>
        </p:nvPicPr>
        <p:blipFill>
          <a:blip r:embed="rId2"/>
          <a:stretch/>
        </p:blipFill>
        <p:spPr>
          <a:xfrm>
            <a:off x="6495840" y="1957680"/>
            <a:ext cx="5360040" cy="265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Gill Sans MT"/>
                <a:ea typeface="Arial"/>
              </a:rPr>
              <a:t>Тренажёр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Объект 4" descr=""/>
          <p:cNvPicPr/>
          <p:nvPr/>
        </p:nvPicPr>
        <p:blipFill>
          <a:blip r:embed="rId1"/>
          <a:stretch/>
        </p:blipFill>
        <p:spPr>
          <a:xfrm>
            <a:off x="119160" y="1853280"/>
            <a:ext cx="4535640" cy="2151360"/>
          </a:xfrm>
          <a:prstGeom prst="rect">
            <a:avLst/>
          </a:prstGeom>
          <a:ln w="0">
            <a:noFill/>
          </a:ln>
        </p:spPr>
      </p:pic>
      <p:pic>
        <p:nvPicPr>
          <p:cNvPr id="57" name="Рисунок 6" descr=""/>
          <p:cNvPicPr/>
          <p:nvPr/>
        </p:nvPicPr>
        <p:blipFill>
          <a:blip r:embed="rId2"/>
          <a:stretch/>
        </p:blipFill>
        <p:spPr>
          <a:xfrm>
            <a:off x="6672240" y="980640"/>
            <a:ext cx="4646520" cy="2282760"/>
          </a:xfrm>
          <a:prstGeom prst="rect">
            <a:avLst/>
          </a:prstGeom>
          <a:ln w="0">
            <a:noFill/>
          </a:ln>
        </p:spPr>
      </p:pic>
      <p:pic>
        <p:nvPicPr>
          <p:cNvPr id="58" name="Рисунок 8" descr=""/>
          <p:cNvPicPr/>
          <p:nvPr/>
        </p:nvPicPr>
        <p:blipFill>
          <a:blip r:embed="rId3"/>
          <a:stretch/>
        </p:blipFill>
        <p:spPr>
          <a:xfrm>
            <a:off x="119160" y="4149000"/>
            <a:ext cx="4732560" cy="2545560"/>
          </a:xfrm>
          <a:prstGeom prst="rect">
            <a:avLst/>
          </a:prstGeom>
          <a:ln w="0">
            <a:noFill/>
          </a:ln>
        </p:spPr>
      </p:pic>
      <p:pic>
        <p:nvPicPr>
          <p:cNvPr id="59" name="Рисунок 10" descr=""/>
          <p:cNvPicPr/>
          <p:nvPr/>
        </p:nvPicPr>
        <p:blipFill>
          <a:blip r:embed="rId4"/>
          <a:stretch/>
        </p:blipFill>
        <p:spPr>
          <a:xfrm>
            <a:off x="5326200" y="4038120"/>
            <a:ext cx="5727240" cy="262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Gill Sans MT"/>
                <a:ea typeface="Arial"/>
              </a:rPr>
              <a:t>Вход в аккаунт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Объект 4" descr=""/>
          <p:cNvPicPr/>
          <p:nvPr/>
        </p:nvPicPr>
        <p:blipFill>
          <a:blip r:embed="rId1"/>
          <a:stretch/>
        </p:blipFill>
        <p:spPr>
          <a:xfrm>
            <a:off x="1777320" y="2205000"/>
            <a:ext cx="4474800" cy="344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Gill Sans MT"/>
                <a:ea typeface="Arial"/>
              </a:rPr>
              <a:t>Аккаунт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Объект 6" descr=""/>
          <p:cNvPicPr/>
          <p:nvPr/>
        </p:nvPicPr>
        <p:blipFill>
          <a:blip r:embed="rId1"/>
          <a:stretch/>
        </p:blipFill>
        <p:spPr>
          <a:xfrm>
            <a:off x="7032240" y="1313640"/>
            <a:ext cx="4282920" cy="2024640"/>
          </a:xfrm>
          <a:prstGeom prst="rect">
            <a:avLst/>
          </a:prstGeom>
          <a:ln w="0">
            <a:noFill/>
          </a:ln>
        </p:spPr>
      </p:pic>
      <p:pic>
        <p:nvPicPr>
          <p:cNvPr id="64" name="Рисунок 4" descr=""/>
          <p:cNvPicPr/>
          <p:nvPr/>
        </p:nvPicPr>
        <p:blipFill>
          <a:blip r:embed="rId2"/>
          <a:stretch/>
        </p:blipFill>
        <p:spPr>
          <a:xfrm>
            <a:off x="25920" y="1659600"/>
            <a:ext cx="5853240" cy="2734560"/>
          </a:xfrm>
          <a:prstGeom prst="rect">
            <a:avLst/>
          </a:prstGeom>
          <a:ln w="0">
            <a:noFill/>
          </a:ln>
        </p:spPr>
      </p:pic>
      <p:pic>
        <p:nvPicPr>
          <p:cNvPr id="65" name="Рисунок 8" descr=""/>
          <p:cNvPicPr/>
          <p:nvPr/>
        </p:nvPicPr>
        <p:blipFill>
          <a:blip r:embed="rId3"/>
          <a:stretch/>
        </p:blipFill>
        <p:spPr>
          <a:xfrm>
            <a:off x="25920" y="4508280"/>
            <a:ext cx="4968000" cy="2349000"/>
          </a:xfrm>
          <a:prstGeom prst="rect">
            <a:avLst/>
          </a:prstGeom>
          <a:ln w="0">
            <a:noFill/>
          </a:ln>
        </p:spPr>
      </p:pic>
      <p:pic>
        <p:nvPicPr>
          <p:cNvPr id="66" name="Рисунок 12" descr=""/>
          <p:cNvPicPr/>
          <p:nvPr/>
        </p:nvPicPr>
        <p:blipFill>
          <a:blip r:embed="rId4"/>
          <a:stretch/>
        </p:blipFill>
        <p:spPr>
          <a:xfrm>
            <a:off x="5951880" y="3498480"/>
            <a:ext cx="5853240" cy="289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1920" cy="10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</a:rPr>
              <a:t>Вывод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601920" cy="344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 defTabSz="91440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Gill Sans MT"/>
                <a:ea typeface="Arial"/>
              </a:rPr>
              <a:t>В результате проделанной работы, все поставленные цели и задачи были достигнуты: был разработан сайт, изучены аналоги, выявлены преимущества разработанного проекта над существующими, определены дальнейшие перспективы развития сайта.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Галерея">
  <a:themeElements>
    <a:clrScheme name="Галерея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itchFamily="0" charset="1"/>
        <a:ea typeface="Arial" pitchFamily="0" charset="1"/>
        <a:cs typeface="Arial" pitchFamily="0" charset="1"/>
      </a:majorFont>
      <a:minorFont>
        <a:latin typeface="Gill Sans M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Галерея">
  <a:themeElements>
    <a:clrScheme name="Галерея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itchFamily="0" charset="1"/>
        <a:ea typeface="Arial" pitchFamily="0" charset="1"/>
        <a:cs typeface="Arial" pitchFamily="0" charset="1"/>
      </a:majorFont>
      <a:minorFont>
        <a:latin typeface="Gill Sans M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Галерея">
  <a:themeElements>
    <a:clrScheme name="Галерея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itchFamily="0" charset="1"/>
        <a:ea typeface="Arial" pitchFamily="0" charset="1"/>
        <a:cs typeface="Arial" pitchFamily="0" charset="1"/>
      </a:majorFont>
      <a:minorFont>
        <a:latin typeface="Gill Sans MT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61</TotalTime>
  <Application>LibreOffice/24.2.5.2$Linux_X86_64 LibreOffice_project/420$Build-2</Application>
  <AppVersion>15.0000</AppVersion>
  <Words>499</Words>
  <Paragraphs>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2026-01-21T05:36:43Z</dcterms:created>
  <dc:creator>1</dc:creator>
  <dc:description/>
  <dc:language>ru-RU</dc:language>
  <cp:lastModifiedBy/>
  <dcterms:modified xsi:type="dcterms:W3CDTF">2026-02-04T16:15:32Z</dcterms:modified>
  <cp:revision>18</cp:revision>
  <dc:subject/>
  <dc:title>ПРОГРАММИРОВАНИЕ ДЛЯ ДОШКОЛЬНИКОВ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14</vt:i4>
  </property>
</Properties>
</file>